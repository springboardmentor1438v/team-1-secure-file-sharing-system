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chivo Black" charset="1" panose="020B0A03020202020B04"/>
      <p:regular r:id="rId19"/>
    </p:embeddedFont>
    <p:embeddedFont>
      <p:font typeface="Garet Bold" charset="1" panose="00000000000000000000"/>
      <p:regular r:id="rId20"/>
    </p:embeddedFont>
    <p:embeddedFont>
      <p:font typeface="Garet" charset="1" panose="00000000000000000000"/>
      <p:regular r:id="rId21"/>
    </p:embeddedFont>
    <p:embeddedFont>
      <p:font typeface="Lilita One" charset="1" panose="02000000000000000000"/>
      <p:regular r:id="rId22"/>
    </p:embeddedFont>
    <p:embeddedFont>
      <p:font typeface="Canva Sans Bold" charset="1" panose="020B0803030501040103"/>
      <p:regular r:id="rId23"/>
    </p:embeddedFont>
    <p:embeddedFont>
      <p:font typeface="Coming Soon" charset="1" panose="02000000000000000000"/>
      <p:regular r:id="rId24"/>
    </p:embeddedFont>
    <p:embeddedFont>
      <p:font typeface="Roca One Heavy" charset="1" panose="00000A00000000000000"/>
      <p:regular r:id="rId25"/>
    </p:embeddedFont>
    <p:embeddedFont>
      <p:font typeface="Sigmar One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2" Target="../media/image5.jpeg" Type="http://schemas.openxmlformats.org/officeDocument/2006/relationships/image"/><Relationship Id="rId3" Target="../media/image26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jpeg" Type="http://schemas.openxmlformats.org/officeDocument/2006/relationships/image"/><Relationship Id="rId9" Target="../media/image3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828739" y="-4252728"/>
            <a:ext cx="10693329" cy="19010362"/>
          </a:xfrm>
          <a:custGeom>
            <a:avLst/>
            <a:gdLst/>
            <a:ahLst/>
            <a:cxnLst/>
            <a:rect r="r" b="b" t="t" l="l"/>
            <a:pathLst>
              <a:path h="19010362" w="10693329">
                <a:moveTo>
                  <a:pt x="0" y="0"/>
                </a:moveTo>
                <a:lnTo>
                  <a:pt x="10693329" y="0"/>
                </a:lnTo>
                <a:lnTo>
                  <a:pt x="10693329" y="19010362"/>
                </a:lnTo>
                <a:lnTo>
                  <a:pt x="0" y="19010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45087" y="5530562"/>
            <a:ext cx="13305586" cy="463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05"/>
              </a:lnSpc>
              <a:spcBef>
                <a:spcPct val="0"/>
              </a:spcBef>
            </a:pPr>
            <a:r>
              <a:rPr lang="en-US" sz="3405" spc="-26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Encrypted File Management &amp; Audited Sharing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NAME OF PROJECT: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TrustShare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4796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4796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Team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68701" y="1229360"/>
            <a:ext cx="8089523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Presentation on TrustShare  | 08/09/2026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11748" y="3818045"/>
            <a:ext cx="11045428" cy="1434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972"/>
              </a:lnSpc>
              <a:spcBef>
                <a:spcPct val="0"/>
              </a:spcBef>
            </a:pPr>
            <a:r>
              <a:rPr lang="en-US" sz="12784" spc="-100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TRUST</a:t>
            </a:r>
            <a:r>
              <a:rPr lang="en-US" sz="12784" spc="-1009">
                <a:solidFill>
                  <a:srgbClr val="FBF922"/>
                </a:solidFill>
                <a:latin typeface="Archivo Black"/>
                <a:ea typeface="Archivo Black"/>
                <a:cs typeface="Archivo Black"/>
                <a:sym typeface="Archivo Black"/>
              </a:rPr>
              <a:t>SHARE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797336" y="-4158517"/>
            <a:ext cx="10693329" cy="19010362"/>
          </a:xfrm>
          <a:custGeom>
            <a:avLst/>
            <a:gdLst/>
            <a:ahLst/>
            <a:cxnLst/>
            <a:rect r="r" b="b" t="t" l="l"/>
            <a:pathLst>
              <a:path h="19010362" w="10693329">
                <a:moveTo>
                  <a:pt x="0" y="0"/>
                </a:moveTo>
                <a:lnTo>
                  <a:pt x="10693328" y="0"/>
                </a:lnTo>
                <a:lnTo>
                  <a:pt x="10693328" y="19010362"/>
                </a:lnTo>
                <a:lnTo>
                  <a:pt x="0" y="19010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530015" y="1198840"/>
          <a:ext cx="6511183" cy="8210550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8210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Overview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0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Goals and company vision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0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Target Audience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0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Timeline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0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System &amp; Technical Architecture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0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Core Security &amp; Encryption Engine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0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Real-Time Audit Logging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0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Competitive Advantage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0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Our Team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0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Future Roadmap &amp; conclusion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52347" y="3497580"/>
            <a:ext cx="7247243" cy="740664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64873" y="1351240"/>
            <a:ext cx="9449797" cy="306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34"/>
              </a:lnSpc>
            </a:pPr>
            <a:r>
              <a:rPr lang="en-US" sz="11379" spc="-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TABLE OF CONTENTS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5346664"/>
            <a:ext cx="5856474" cy="5856474"/>
          </a:xfrm>
          <a:custGeom>
            <a:avLst/>
            <a:gdLst/>
            <a:ahLst/>
            <a:cxnLst/>
            <a:rect r="r" b="b" t="t" l="l"/>
            <a:pathLst>
              <a:path h="5856474" w="5856474">
                <a:moveTo>
                  <a:pt x="0" y="0"/>
                </a:moveTo>
                <a:lnTo>
                  <a:pt x="5856474" y="0"/>
                </a:lnTo>
                <a:lnTo>
                  <a:pt x="5856474" y="5856475"/>
                </a:lnTo>
                <a:lnTo>
                  <a:pt x="0" y="58564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565647" y="-4780814"/>
            <a:ext cx="11168624" cy="19855331"/>
          </a:xfrm>
          <a:custGeom>
            <a:avLst/>
            <a:gdLst/>
            <a:ahLst/>
            <a:cxnLst/>
            <a:rect r="r" b="b" t="t" l="l"/>
            <a:pathLst>
              <a:path h="19855331" w="11168624">
                <a:moveTo>
                  <a:pt x="0" y="0"/>
                </a:moveTo>
                <a:lnTo>
                  <a:pt x="11168623" y="0"/>
                </a:lnTo>
                <a:lnTo>
                  <a:pt x="11168623" y="19855331"/>
                </a:lnTo>
                <a:lnTo>
                  <a:pt x="0" y="19855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982862" y="1685272"/>
            <a:ext cx="7203393" cy="87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508"/>
              </a:lnSpc>
              <a:spcBef>
                <a:spcPct val="0"/>
              </a:spcBef>
            </a:pPr>
            <a:r>
              <a:rPr lang="en-US" sz="6508" spc="-51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05427" y="8892540"/>
            <a:ext cx="489931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www.sushilvatane07.github.io/tm/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18634" y="2743038"/>
            <a:ext cx="7039168" cy="5164648"/>
            <a:chOff x="0" y="0"/>
            <a:chExt cx="9385558" cy="6886198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4"/>
            <a:srcRect l="0" t="0" r="0" b="51485"/>
            <a:stretch>
              <a:fillRect/>
            </a:stretch>
          </p:blipFill>
          <p:spPr>
            <a:xfrm flipH="false" flipV="false">
              <a:off x="0" y="0"/>
              <a:ext cx="9385558" cy="6886198"/>
            </a:xfrm>
            <a:prstGeom prst="rect">
              <a:avLst/>
            </a:prstGeom>
          </p:spPr>
        </p:pic>
      </p:grpSp>
      <p:sp>
        <p:nvSpPr>
          <p:cNvPr name="TextBox 9" id="9"/>
          <p:cNvSpPr txBox="true"/>
          <p:nvPr/>
        </p:nvSpPr>
        <p:spPr>
          <a:xfrm rot="-692028">
            <a:off x="10023985" y="3704295"/>
            <a:ext cx="2380029" cy="107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6"/>
              </a:lnSpc>
            </a:pPr>
            <a:r>
              <a:rPr lang="en-US" sz="20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Share links live forever until forgotten</a:t>
            </a:r>
          </a:p>
        </p:txBody>
      </p:sp>
      <p:sp>
        <p:nvSpPr>
          <p:cNvPr name="TextBox 10" id="10"/>
          <p:cNvSpPr txBox="true"/>
          <p:nvPr/>
        </p:nvSpPr>
        <p:spPr>
          <a:xfrm rot="-705623">
            <a:off x="12976391" y="3526232"/>
            <a:ext cx="1532361" cy="58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Leaked link = Game Over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386531"/>
            <a:ext cx="7769500" cy="340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9"/>
              </a:lnSpc>
              <a:spcBef>
                <a:spcPct val="0"/>
              </a:spcBef>
            </a:pPr>
            <a:r>
              <a:rPr lang="en-US" b="true" sz="249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TrustShare is a zero-trust file platform combining Python encryption, FastAPI, and React to deliver secure storage, instant link revocation, and full audit logging.</a:t>
            </a:r>
          </a:p>
          <a:p>
            <a:pPr algn="just">
              <a:lnSpc>
                <a:spcPts val="2989"/>
              </a:lnSpc>
              <a:spcBef>
                <a:spcPct val="0"/>
              </a:spcBef>
            </a:pPr>
            <a:r>
              <a:rPr lang="en-US" b="true" sz="249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platform is designed to improve digital file security by protecting sensitive documents and enabling secure collaboration between users.</a:t>
            </a:r>
          </a:p>
          <a:p>
            <a:pPr algn="just">
              <a:lnSpc>
                <a:spcPts val="298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095936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7737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3795876" y="-4525070"/>
            <a:ext cx="10868704" cy="19315577"/>
          </a:xfrm>
          <a:custGeom>
            <a:avLst/>
            <a:gdLst/>
            <a:ahLst/>
            <a:cxnLst/>
            <a:rect r="r" b="b" t="t" l="l"/>
            <a:pathLst>
              <a:path h="19315577" w="10868704">
                <a:moveTo>
                  <a:pt x="0" y="0"/>
                </a:moveTo>
                <a:lnTo>
                  <a:pt x="10868704" y="0"/>
                </a:lnTo>
                <a:lnTo>
                  <a:pt x="10868704" y="19315577"/>
                </a:lnTo>
                <a:lnTo>
                  <a:pt x="0" y="193155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19538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1159450" y="-133338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31881" y="1280050"/>
            <a:ext cx="8960505" cy="2278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21"/>
              </a:lnSpc>
              <a:spcBef>
                <a:spcPct val="0"/>
              </a:spcBef>
            </a:pPr>
            <a:r>
              <a:rPr lang="en-US" sz="8721" spc="-688">
                <a:solidFill>
                  <a:srgbClr val="FFC7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 and Goals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82445" y="981075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27592" y="3658434"/>
            <a:ext cx="4709855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Build a zero-trust platform delivering end-to-end Python encryption to protect files at rest and in transit.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#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40501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#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6538" y="7033135"/>
            <a:ext cx="467132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Eliminate cloud</a:t>
            </a: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leaks</a:t>
            </a: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346788" y="7033135"/>
            <a:ext cx="370071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3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otal transparency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52302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# 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64964" y="7192938"/>
            <a:ext cx="539901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ful</a:t>
            </a:r>
            <a:r>
              <a:rPr lang="en-US" sz="33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 authority over </a:t>
            </a: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shared data.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79020" y="3220284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Objective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44123" y="3220284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Objective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92695" y="3658434"/>
            <a:ext cx="4709855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Provide instant link revocation and expiration controls so users maintain full authority over shared data.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307737" y="5530339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95936" y="5656075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0"/>
                </a:lnTo>
                <a:lnTo>
                  <a:pt x="0" y="70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r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28700" y="3082972"/>
            <a:ext cx="5489373" cy="4121056"/>
            <a:chOff x="0" y="0"/>
            <a:chExt cx="8916670" cy="66940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55575" y="155575"/>
              <a:ext cx="8605520" cy="6382893"/>
            </a:xfrm>
            <a:custGeom>
              <a:avLst/>
              <a:gdLst/>
              <a:ahLst/>
              <a:cxnLst/>
              <a:rect r="r" b="b" t="t" l="l"/>
              <a:pathLst>
                <a:path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4"/>
              <a:stretch>
                <a:fillRect l="0" t="-51116" r="0" b="-51116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" y="6350"/>
              <a:ext cx="8903970" cy="6681343"/>
            </a:xfrm>
            <a:custGeom>
              <a:avLst/>
              <a:gdLst/>
              <a:ahLst/>
              <a:cxnLst/>
              <a:rect r="r" b="b" t="t" l="l"/>
              <a:pathLst>
                <a:path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7849079" y="1474522"/>
            <a:ext cx="9644503" cy="103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776"/>
              </a:lnSpc>
              <a:spcBef>
                <a:spcPct val="0"/>
              </a:spcBef>
            </a:pPr>
            <a:r>
              <a:rPr lang="en-US" sz="7776" spc="-614">
                <a:solidFill>
                  <a:srgbClr val="18208B"/>
                </a:solidFill>
                <a:latin typeface="Archivo Black"/>
                <a:ea typeface="Archivo Black"/>
                <a:cs typeface="Archivo Black"/>
                <a:sym typeface="Archivo Black"/>
              </a:rPr>
              <a:t>Target Audience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49079" y="6094975"/>
            <a:ext cx="7891521" cy="74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8"/>
              </a:lnSpc>
              <a:spcBef>
                <a:spcPct val="0"/>
              </a:spcBef>
            </a:pPr>
            <a:r>
              <a:rPr lang="en-US" sz="43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 Legal &amp; Contract Management: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50599" y="5048250"/>
            <a:ext cx="9442394" cy="74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8"/>
              </a:lnSpc>
              <a:spcBef>
                <a:spcPct val="0"/>
              </a:spcBef>
            </a:pPr>
            <a:r>
              <a:rPr lang="en-US" sz="43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 Healthcare &amp; Patient Records (HIPAA):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94223" y="4075984"/>
            <a:ext cx="8550886" cy="74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8"/>
              </a:lnSpc>
              <a:spcBef>
                <a:spcPct val="0"/>
              </a:spcBef>
            </a:pPr>
            <a:r>
              <a:rPr lang="en-US" sz="43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Fin</a:t>
            </a:r>
            <a:r>
              <a:rPr lang="en-US" sz="43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ance, Accounting &amp; Tax Services: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8419" y="3033151"/>
            <a:ext cx="7090340" cy="74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8"/>
              </a:lnSpc>
              <a:spcBef>
                <a:spcPct val="0"/>
              </a:spcBef>
            </a:pPr>
            <a:r>
              <a:rPr lang="en-US" sz="43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 </a:t>
            </a:r>
            <a:r>
              <a:rPr lang="en-US" sz="43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Hum</a:t>
            </a:r>
            <a:r>
              <a:rPr lang="en-US" sz="43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an Resources &amp; Payroll: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94223" y="7265622"/>
            <a:ext cx="7746376" cy="74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8"/>
              </a:lnSpc>
              <a:spcBef>
                <a:spcPct val="0"/>
              </a:spcBef>
            </a:pPr>
            <a:r>
              <a:rPr lang="en-US" sz="43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 Corporate IP &amp; R&amp;D Protection:</a:t>
            </a:r>
          </a:p>
        </p:txBody>
      </p:sp>
    </p:spTree>
  </p:cSld>
  <p:clrMapOvr>
    <a:masterClrMapping/>
  </p:clrMapOvr>
  <p:transition spd="slow">
    <p:push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773054" y="-5872262"/>
            <a:ext cx="12090385" cy="22084862"/>
          </a:xfrm>
          <a:custGeom>
            <a:avLst/>
            <a:gdLst/>
            <a:ahLst/>
            <a:cxnLst/>
            <a:rect r="r" b="b" t="t" l="l"/>
            <a:pathLst>
              <a:path h="22084862" w="12090385">
                <a:moveTo>
                  <a:pt x="0" y="0"/>
                </a:moveTo>
                <a:lnTo>
                  <a:pt x="12090385" y="0"/>
                </a:lnTo>
                <a:lnTo>
                  <a:pt x="12090385" y="22084863"/>
                </a:lnTo>
                <a:lnTo>
                  <a:pt x="0" y="22084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12" t="0" r="-1312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1028700" y="4292535"/>
            <a:ext cx="13838306" cy="0"/>
          </a:xfrm>
          <a:prstGeom prst="line">
            <a:avLst/>
          </a:prstGeom>
          <a:ln cap="rnd" w="19050">
            <a:solidFill>
              <a:srgbClr val="FBF9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5074698" y="3103895"/>
            <a:ext cx="1629446" cy="2396244"/>
          </a:xfrm>
          <a:custGeom>
            <a:avLst/>
            <a:gdLst/>
            <a:ahLst/>
            <a:cxnLst/>
            <a:rect r="r" b="b" t="t" l="l"/>
            <a:pathLst>
              <a:path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05388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82075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58763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0251" y="3487294"/>
            <a:ext cx="529201" cy="508740"/>
          </a:xfrm>
          <a:custGeom>
            <a:avLst/>
            <a:gdLst/>
            <a:ahLst/>
            <a:cxnLst/>
            <a:rect r="r" b="b" t="t" l="l"/>
            <a:pathLst>
              <a:path h="508740" w="529201">
                <a:moveTo>
                  <a:pt x="0" y="0"/>
                </a:moveTo>
                <a:lnTo>
                  <a:pt x="529201" y="0"/>
                </a:lnTo>
                <a:lnTo>
                  <a:pt x="529201" y="508740"/>
                </a:lnTo>
                <a:lnTo>
                  <a:pt x="0" y="508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476187" y="3487294"/>
            <a:ext cx="529201" cy="508740"/>
          </a:xfrm>
          <a:custGeom>
            <a:avLst/>
            <a:gdLst/>
            <a:ahLst/>
            <a:cxnLst/>
            <a:rect r="r" b="b" t="t" l="l"/>
            <a:pathLst>
              <a:path h="508740" w="529201">
                <a:moveTo>
                  <a:pt x="0" y="0"/>
                </a:moveTo>
                <a:lnTo>
                  <a:pt x="529201" y="0"/>
                </a:lnTo>
                <a:lnTo>
                  <a:pt x="529201" y="508740"/>
                </a:lnTo>
                <a:lnTo>
                  <a:pt x="0" y="508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195764" y="3487294"/>
            <a:ext cx="529201" cy="508740"/>
          </a:xfrm>
          <a:custGeom>
            <a:avLst/>
            <a:gdLst/>
            <a:ahLst/>
            <a:cxnLst/>
            <a:rect r="r" b="b" t="t" l="l"/>
            <a:pathLst>
              <a:path h="508740" w="529201">
                <a:moveTo>
                  <a:pt x="0" y="0"/>
                </a:moveTo>
                <a:lnTo>
                  <a:pt x="529201" y="0"/>
                </a:lnTo>
                <a:lnTo>
                  <a:pt x="529201" y="508740"/>
                </a:lnTo>
                <a:lnTo>
                  <a:pt x="0" y="508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14049" y="3487294"/>
            <a:ext cx="529201" cy="508740"/>
          </a:xfrm>
          <a:custGeom>
            <a:avLst/>
            <a:gdLst/>
            <a:ahLst/>
            <a:cxnLst/>
            <a:rect r="r" b="b" t="t" l="l"/>
            <a:pathLst>
              <a:path h="508740" w="529201">
                <a:moveTo>
                  <a:pt x="0" y="0"/>
                </a:moveTo>
                <a:lnTo>
                  <a:pt x="529201" y="0"/>
                </a:lnTo>
                <a:lnTo>
                  <a:pt x="529201" y="508740"/>
                </a:lnTo>
                <a:lnTo>
                  <a:pt x="0" y="508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833626" y="3487294"/>
            <a:ext cx="529201" cy="508740"/>
          </a:xfrm>
          <a:custGeom>
            <a:avLst/>
            <a:gdLst/>
            <a:ahLst/>
            <a:cxnLst/>
            <a:rect r="r" b="b" t="t" l="l"/>
            <a:pathLst>
              <a:path h="508740" w="529201">
                <a:moveTo>
                  <a:pt x="0" y="0"/>
                </a:moveTo>
                <a:lnTo>
                  <a:pt x="529201" y="0"/>
                </a:lnTo>
                <a:lnTo>
                  <a:pt x="529201" y="508740"/>
                </a:lnTo>
                <a:lnTo>
                  <a:pt x="0" y="508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53327" y="3487294"/>
            <a:ext cx="529201" cy="508740"/>
          </a:xfrm>
          <a:custGeom>
            <a:avLst/>
            <a:gdLst/>
            <a:ahLst/>
            <a:cxnLst/>
            <a:rect r="r" b="b" t="t" l="l"/>
            <a:pathLst>
              <a:path h="508740" w="529201">
                <a:moveTo>
                  <a:pt x="0" y="0"/>
                </a:moveTo>
                <a:lnTo>
                  <a:pt x="529201" y="0"/>
                </a:lnTo>
                <a:lnTo>
                  <a:pt x="529201" y="508740"/>
                </a:lnTo>
                <a:lnTo>
                  <a:pt x="0" y="508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574768" y="3487294"/>
            <a:ext cx="529201" cy="508740"/>
          </a:xfrm>
          <a:custGeom>
            <a:avLst/>
            <a:gdLst/>
            <a:ahLst/>
            <a:cxnLst/>
            <a:rect r="r" b="b" t="t" l="l"/>
            <a:pathLst>
              <a:path h="508740" w="529201">
                <a:moveTo>
                  <a:pt x="0" y="0"/>
                </a:moveTo>
                <a:lnTo>
                  <a:pt x="529200" y="0"/>
                </a:lnTo>
                <a:lnTo>
                  <a:pt x="529200" y="508740"/>
                </a:lnTo>
                <a:lnTo>
                  <a:pt x="0" y="508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294345" y="3487294"/>
            <a:ext cx="529201" cy="508740"/>
          </a:xfrm>
          <a:custGeom>
            <a:avLst/>
            <a:gdLst/>
            <a:ahLst/>
            <a:cxnLst/>
            <a:rect r="r" b="b" t="t" l="l"/>
            <a:pathLst>
              <a:path h="508740" w="529201">
                <a:moveTo>
                  <a:pt x="0" y="0"/>
                </a:moveTo>
                <a:lnTo>
                  <a:pt x="529201" y="0"/>
                </a:lnTo>
                <a:lnTo>
                  <a:pt x="529201" y="508740"/>
                </a:lnTo>
                <a:lnTo>
                  <a:pt x="0" y="508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014046" y="3487294"/>
            <a:ext cx="529201" cy="508740"/>
          </a:xfrm>
          <a:custGeom>
            <a:avLst/>
            <a:gdLst/>
            <a:ahLst/>
            <a:cxnLst/>
            <a:rect r="r" b="b" t="t" l="l"/>
            <a:pathLst>
              <a:path h="508740" w="529201">
                <a:moveTo>
                  <a:pt x="0" y="0"/>
                </a:moveTo>
                <a:lnTo>
                  <a:pt x="529201" y="0"/>
                </a:lnTo>
                <a:lnTo>
                  <a:pt x="529201" y="508740"/>
                </a:lnTo>
                <a:lnTo>
                  <a:pt x="0" y="508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722072" y="3487294"/>
            <a:ext cx="529201" cy="508740"/>
          </a:xfrm>
          <a:custGeom>
            <a:avLst/>
            <a:gdLst/>
            <a:ahLst/>
            <a:cxnLst/>
            <a:rect r="r" b="b" t="t" l="l"/>
            <a:pathLst>
              <a:path h="508740" w="529201">
                <a:moveTo>
                  <a:pt x="0" y="0"/>
                </a:moveTo>
                <a:lnTo>
                  <a:pt x="529201" y="0"/>
                </a:lnTo>
                <a:lnTo>
                  <a:pt x="529201" y="508740"/>
                </a:lnTo>
                <a:lnTo>
                  <a:pt x="0" y="508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1162887"/>
            <a:ext cx="568354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D9D9D9"/>
                </a:solidFill>
                <a:latin typeface="Archivo Black"/>
                <a:ea typeface="Archivo Black"/>
                <a:cs typeface="Archivo Black"/>
                <a:sym typeface="Archivo Black"/>
              </a:rPr>
              <a:t>Timeline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06/13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47004" y="4672329"/>
            <a:ext cx="2204269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8 sept 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9076" y="5934826"/>
            <a:ext cx="2277734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1st Milestone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6865" y="6504079"/>
            <a:ext cx="4045495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Setup database schema, user authentication, file storage, and audit logs.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849961" y="5934826"/>
            <a:ext cx="2575911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2nd Milestone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72360" y="6504079"/>
            <a:ext cx="3427844" cy="143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Integrate Python cryptography engine for file encryption and decryption pipeline.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0" y="5897790"/>
            <a:ext cx="2703701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3rd Milestone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11688" y="6504079"/>
            <a:ext cx="3747319" cy="143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Build revocable sharing links, expiration dates, and real-time security alerts.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49139" y="5897790"/>
            <a:ext cx="4123962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4th Milestone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36778" y="6504079"/>
            <a:ext cx="4123962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Deploy 3D vault UI, user analytics dashboard, and Docker containers.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62060"/>
            <a:ext cx="8115300" cy="163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30"/>
              </a:lnSpc>
            </a:pPr>
            <a:r>
              <a:rPr lang="en-US" sz="5808" spc="-284">
                <a:solidFill>
                  <a:srgbClr val="18208B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&amp;Technical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24930" y="2830296"/>
            <a:ext cx="2763612" cy="60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2"/>
              </a:lnSpc>
              <a:spcBef>
                <a:spcPct val="0"/>
              </a:spcBef>
            </a:pPr>
            <a:r>
              <a:rPr lang="en-US" sz="3452">
                <a:solidFill>
                  <a:srgbClr val="18208B"/>
                </a:solidFill>
                <a:latin typeface="Lilita One"/>
                <a:ea typeface="Lilita One"/>
                <a:cs typeface="Lilita One"/>
                <a:sym typeface="Lilita One"/>
              </a:rPr>
              <a:t>FRONTEND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36186" y="3791862"/>
            <a:ext cx="5527224" cy="60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2"/>
              </a:lnSpc>
              <a:spcBef>
                <a:spcPct val="0"/>
              </a:spcBef>
            </a:pPr>
            <a:r>
              <a:rPr lang="en-US" sz="3452">
                <a:solidFill>
                  <a:srgbClr val="18208B"/>
                </a:solidFill>
                <a:latin typeface="Lilita One"/>
                <a:ea typeface="Lilita One"/>
                <a:cs typeface="Lilita One"/>
                <a:sym typeface="Lilita One"/>
              </a:rPr>
              <a:t>BACKEND API 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2200" y="5366104"/>
            <a:ext cx="5527224" cy="60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2"/>
              </a:lnSpc>
              <a:spcBef>
                <a:spcPct val="0"/>
              </a:spcBef>
            </a:pPr>
            <a:r>
              <a:rPr lang="en-US" sz="3452">
                <a:solidFill>
                  <a:srgbClr val="18208B"/>
                </a:solidFill>
                <a:latin typeface="Lilita One"/>
                <a:ea typeface="Lilita One"/>
                <a:cs typeface="Lilita One"/>
                <a:sym typeface="Lilita One"/>
              </a:rPr>
              <a:t>DATABASE LAYER 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44839" y="6989851"/>
            <a:ext cx="5527224" cy="60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2"/>
              </a:lnSpc>
              <a:spcBef>
                <a:spcPct val="0"/>
              </a:spcBef>
            </a:pPr>
            <a:r>
              <a:rPr lang="en-US" sz="3452">
                <a:solidFill>
                  <a:srgbClr val="18208B"/>
                </a:solidFill>
                <a:latin typeface="Lilita One"/>
                <a:ea typeface="Lilita One"/>
                <a:cs typeface="Lilita One"/>
                <a:sym typeface="Lilita One"/>
              </a:rPr>
              <a:t>DEPLOYMENT 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83723" y="2875305"/>
            <a:ext cx="6459250" cy="107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4"/>
              </a:lnSpc>
            </a:pPr>
            <a:r>
              <a:rPr lang="en-US" sz="3088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REACT (VITE) , CSS , JS</a:t>
            </a:r>
          </a:p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183723" y="3828218"/>
            <a:ext cx="7915036" cy="1623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8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FASTAPI (PYTHON) FOR HIGH-PE</a:t>
            </a:r>
            <a:r>
              <a:rPr lang="en-US" sz="3088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RFORMANCE ASYNCHRONOUS REQUEST HANDLING.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83723" y="5471683"/>
            <a:ext cx="7581468" cy="1623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8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POSTGRESQL &amp; SUPABASE CLOUD FOR </a:t>
            </a:r>
            <a:r>
              <a:rPr lang="en-US" sz="3088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RELATIONAL USER, FILE, AND LOG METADATA.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83723" y="7115148"/>
            <a:ext cx="7915036" cy="107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4"/>
              </a:lnSpc>
              <a:spcBef>
                <a:spcPct val="0"/>
              </a:spcBef>
            </a:pPr>
            <a:r>
              <a:rPr lang="en-US" sz="3088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 DOCKER &amp; DOCKER COMPOSE FOR ISO</a:t>
            </a:r>
            <a:r>
              <a:rPr lang="en-US" sz="3088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LATED CONTAINERIZED ENVIRONMENTS.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773054" y="-5872262"/>
            <a:ext cx="12090385" cy="22084862"/>
          </a:xfrm>
          <a:custGeom>
            <a:avLst/>
            <a:gdLst/>
            <a:ahLst/>
            <a:cxnLst/>
            <a:rect r="r" b="b" t="t" l="l"/>
            <a:pathLst>
              <a:path h="22084862" w="12090385">
                <a:moveTo>
                  <a:pt x="0" y="0"/>
                </a:moveTo>
                <a:lnTo>
                  <a:pt x="12090385" y="0"/>
                </a:lnTo>
                <a:lnTo>
                  <a:pt x="12090385" y="22084863"/>
                </a:lnTo>
                <a:lnTo>
                  <a:pt x="0" y="22084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430" t="0" r="-1443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442666" y="3271503"/>
            <a:ext cx="3261144" cy="3261144"/>
            <a:chOff x="0" y="0"/>
            <a:chExt cx="8790178" cy="87901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467708" y="3271503"/>
            <a:ext cx="3261144" cy="3261144"/>
            <a:chOff x="0" y="0"/>
            <a:chExt cx="8790178" cy="87901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2917564" y="3271503"/>
            <a:ext cx="3261144" cy="3261144"/>
            <a:chOff x="0" y="0"/>
            <a:chExt cx="8790178" cy="87901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394456" y="1283018"/>
            <a:ext cx="13407649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FFC7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Core security  </a:t>
            </a: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&amp; </a:t>
            </a:r>
            <a:r>
              <a:rPr lang="en-US" sz="5808" spc="-458">
                <a:solidFill>
                  <a:srgbClr val="FFC7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5808" spc="-458">
                <a:solidFill>
                  <a:srgbClr val="FFC7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Encryption Engine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07386" y="6673866"/>
            <a:ext cx="3931704" cy="53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4"/>
              </a:lnSpc>
            </a:pPr>
            <a:r>
              <a:rPr lang="en-US" sz="3196">
                <a:solidFill>
                  <a:srgbClr val="FFFFFF"/>
                </a:solidFill>
                <a:latin typeface="Sigmar One"/>
                <a:ea typeface="Sigmar One"/>
                <a:cs typeface="Sigmar One"/>
                <a:sym typeface="Sigmar One"/>
              </a:rPr>
              <a:t>AES Encryption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42666" y="7366602"/>
            <a:ext cx="3261144" cy="98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Files encrypted at rest using Python’s cryptography library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67708" y="7366602"/>
            <a:ext cx="3261144" cy="132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Raw uploaded files and encrypted payloads stored in separate server directories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17564" y="7366602"/>
            <a:ext cx="3261144" cy="98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 Credentials hashed using industry-standard bcrypt algorithms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1980" y="6611836"/>
            <a:ext cx="5265976" cy="53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4"/>
              </a:lnSpc>
            </a:pPr>
            <a:r>
              <a:rPr lang="en-US" sz="3196">
                <a:solidFill>
                  <a:srgbClr val="FFFFFF"/>
                </a:solidFill>
                <a:latin typeface="Sigmar One"/>
                <a:ea typeface="Sigmar One"/>
                <a:cs typeface="Sigmar One"/>
                <a:sym typeface="Sigmar One"/>
              </a:rPr>
              <a:t>Isolated Storage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93324" y="6611836"/>
            <a:ext cx="5265976" cy="53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4"/>
              </a:lnSpc>
            </a:pPr>
            <a:r>
              <a:rPr lang="en-US" sz="3196">
                <a:solidFill>
                  <a:srgbClr val="FFFFFF"/>
                </a:solidFill>
                <a:latin typeface="Sigmar One"/>
                <a:ea typeface="Sigmar One"/>
                <a:cs typeface="Sigmar One"/>
                <a:sym typeface="Sigmar One"/>
              </a:rPr>
              <a:t>Password Hashing</a:t>
            </a:r>
          </a:p>
        </p:txBody>
      </p: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431497" y="-4717736"/>
            <a:ext cx="10982109" cy="19523750"/>
          </a:xfrm>
          <a:custGeom>
            <a:avLst/>
            <a:gdLst/>
            <a:ahLst/>
            <a:cxnLst/>
            <a:rect r="r" b="b" t="t" l="l"/>
            <a:pathLst>
              <a:path h="19523750" w="10982109">
                <a:moveTo>
                  <a:pt x="0" y="0"/>
                </a:moveTo>
                <a:lnTo>
                  <a:pt x="10982109" y="0"/>
                </a:lnTo>
                <a:lnTo>
                  <a:pt x="10982109" y="19523750"/>
                </a:lnTo>
                <a:lnTo>
                  <a:pt x="0" y="19523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180495" y="3103714"/>
            <a:ext cx="11465912" cy="5718218"/>
            <a:chOff x="0" y="0"/>
            <a:chExt cx="15287882" cy="76242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4805402"/>
              <a:ext cx="2188483" cy="2818889"/>
            </a:xfrm>
            <a:custGeom>
              <a:avLst/>
              <a:gdLst/>
              <a:ahLst/>
              <a:cxnLst/>
              <a:rect r="r" b="b" t="t" l="l"/>
              <a:pathLst>
                <a:path h="2818889" w="2188483">
                  <a:moveTo>
                    <a:pt x="0" y="0"/>
                  </a:moveTo>
                  <a:lnTo>
                    <a:pt x="2188483" y="0"/>
                  </a:lnTo>
                  <a:lnTo>
                    <a:pt x="2188483" y="2818889"/>
                  </a:lnTo>
                  <a:lnTo>
                    <a:pt x="0" y="281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48333" y="0"/>
          <a:ext cx="10417579" cy="4981757"/>
        </p:xfrm>
        <a:graphic>
          <a:graphicData uri="http://schemas.openxmlformats.org/drawingml/2006/table">
            <a:tbl>
              <a:tblPr/>
              <a:tblGrid>
                <a:gridCol w="5208789"/>
                <a:gridCol w="5208789"/>
              </a:tblGrid>
              <a:tr h="17343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399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Append-Only Event Logs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b="true" sz="2299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Every login , file upload , link creation and download recorded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82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b="true" sz="2299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Timestamp &amp; User Tracking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b="true" sz="2299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Captures User Id , Action Type and exact Timestamp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91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b="true" sz="2299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Transparency Dashboard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399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only Goggle verified Gmail  can create account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28700" y="1247775"/>
            <a:ext cx="9488172" cy="157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Audit Logging &amp;</a:t>
            </a:r>
          </a:p>
          <a:p>
            <a:pPr algn="l" marL="0" indent="0" lvl="0">
              <a:lnSpc>
                <a:spcPts val="9874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Activity Monitoring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09/13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188765" y="1717831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8028182" y="1717831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918620" y="1036544"/>
            <a:ext cx="14094848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Trust</a:t>
            </a:r>
            <a:r>
              <a:rPr lang="en-US" sz="5808" spc="-458">
                <a:solidFill>
                  <a:srgbClr val="FFBD59"/>
                </a:solidFill>
                <a:latin typeface="Archivo Black"/>
                <a:ea typeface="Archivo Black"/>
                <a:cs typeface="Archivo Black"/>
                <a:sym typeface="Archivo Black"/>
              </a:rPr>
              <a:t>Share</a:t>
            </a: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vs Traditional Cloud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1464" y="3426172"/>
            <a:ext cx="2808901" cy="5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  <a:spcBef>
                <a:spcPct val="0"/>
              </a:spcBef>
            </a:pP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AES encryption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3691" y="2313239"/>
            <a:ext cx="640715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18208B"/>
                </a:solidFill>
                <a:latin typeface="Archivo Black"/>
                <a:ea typeface="Archivo Black"/>
                <a:cs typeface="Archivo Black"/>
                <a:sym typeface="Archivo Black"/>
              </a:rPr>
              <a:t>TrustShare Vault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73927" y="2313239"/>
            <a:ext cx="640715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18208B"/>
                </a:solidFill>
                <a:latin typeface="Archivo Black"/>
                <a:ea typeface="Archivo Black"/>
                <a:cs typeface="Archivo Black"/>
                <a:sym typeface="Archivo Black"/>
              </a:rPr>
              <a:t>Traditional Cloud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99131" y="4354393"/>
            <a:ext cx="2818726" cy="5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  <a:spcBef>
                <a:spcPct val="0"/>
              </a:spcBef>
            </a:pP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 link revocation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72937" y="5213188"/>
            <a:ext cx="1934333" cy="5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  <a:spcBef>
                <a:spcPct val="0"/>
              </a:spcBef>
            </a:pP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audit</a:t>
            </a: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 logs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93082" y="6118266"/>
            <a:ext cx="2430823" cy="5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  <a:spcBef>
                <a:spcPct val="0"/>
              </a:spcBef>
            </a:pP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User Friendly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52806" y="3349987"/>
            <a:ext cx="3575880" cy="5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  <a:spcBef>
                <a:spcPct val="0"/>
              </a:spcBef>
            </a:pP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stored</a:t>
            </a: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 unencrypted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89566" y="4316308"/>
            <a:ext cx="3302361" cy="5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  <a:spcBef>
                <a:spcPct val="0"/>
              </a:spcBef>
            </a:pP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 Links live forev</a:t>
            </a: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79204" y="5282629"/>
            <a:ext cx="3996603" cy="5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  <a:spcBef>
                <a:spcPct val="0"/>
              </a:spcBef>
            </a:pP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No download t</a:t>
            </a: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racking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70362" y="6248950"/>
            <a:ext cx="2193564" cy="5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  <a:spcBef>
                <a:spcPct val="0"/>
              </a:spcBef>
            </a:pP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Silent le</a:t>
            </a:r>
            <a:r>
              <a:rPr lang="en-US" sz="3205">
                <a:solidFill>
                  <a:srgbClr val="18208B"/>
                </a:solidFill>
                <a:latin typeface="Coming Soon"/>
                <a:ea typeface="Coming Soon"/>
                <a:cs typeface="Coming Soon"/>
                <a:sym typeface="Coming Soon"/>
              </a:rPr>
              <a:t>aks.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773054" y="-5872262"/>
            <a:ext cx="12090385" cy="22084862"/>
          </a:xfrm>
          <a:custGeom>
            <a:avLst/>
            <a:gdLst/>
            <a:ahLst/>
            <a:cxnLst/>
            <a:rect r="r" b="b" t="t" l="l"/>
            <a:pathLst>
              <a:path h="22084862" w="12090385">
                <a:moveTo>
                  <a:pt x="0" y="0"/>
                </a:moveTo>
                <a:lnTo>
                  <a:pt x="12090385" y="0"/>
                </a:lnTo>
                <a:lnTo>
                  <a:pt x="12090385" y="22084863"/>
                </a:lnTo>
                <a:lnTo>
                  <a:pt x="0" y="22084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430" t="0" r="-1443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-630356" y="985852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-585133" y="986329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692385" y="2063660"/>
            <a:ext cx="2220124" cy="2220124"/>
            <a:chOff x="0" y="0"/>
            <a:chExt cx="8790178" cy="87901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4"/>
              <a:stretch>
                <a:fillRect l="-8937" t="-1434" r="-17131" b="-41771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586086" y="2063660"/>
            <a:ext cx="2220124" cy="2220124"/>
            <a:chOff x="0" y="0"/>
            <a:chExt cx="8790178" cy="87901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5"/>
              <a:stretch>
                <a:fillRect l="0" t="-1221" r="0" b="-50201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481790" y="2063660"/>
            <a:ext cx="2220124" cy="2220124"/>
            <a:chOff x="0" y="0"/>
            <a:chExt cx="8790178" cy="87901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6"/>
              <a:stretch>
                <a:fillRect l="-42854" t="-112792" r="-41199" b="-32611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375491" y="2063660"/>
            <a:ext cx="2220124" cy="2220124"/>
            <a:chOff x="0" y="0"/>
            <a:chExt cx="8790178" cy="87901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7"/>
              <a:stretch>
                <a:fillRect l="0" t="-16666" r="0" b="-16666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3692385" y="5567517"/>
            <a:ext cx="2220124" cy="2220124"/>
            <a:chOff x="0" y="0"/>
            <a:chExt cx="8790178" cy="87901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8"/>
              <a:stretch>
                <a:fillRect l="-4755" t="-9246" r="-4590" b="-37693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6586086" y="5567517"/>
            <a:ext cx="2220124" cy="2220124"/>
            <a:chOff x="0" y="0"/>
            <a:chExt cx="8790178" cy="87901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9"/>
              <a:stretch>
                <a:fillRect l="0" t="-9250" r="0" b="-40807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9481790" y="5567517"/>
            <a:ext cx="2220124" cy="2220124"/>
            <a:chOff x="0" y="0"/>
            <a:chExt cx="8790178" cy="87901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10"/>
              <a:stretch>
                <a:fillRect l="0" t="-5389" r="0" b="-115604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2375491" y="5567517"/>
            <a:ext cx="2220124" cy="2220124"/>
            <a:chOff x="0" y="0"/>
            <a:chExt cx="8790178" cy="87901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11"/>
              <a:stretch>
                <a:fillRect l="-12192" t="0" r="-12192" b="-37417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5542303" y="1123950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team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11/13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64133" y="4511682"/>
            <a:ext cx="2676628" cy="23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2"/>
              </a:lnSpc>
            </a:pPr>
            <a:r>
              <a:rPr lang="en-US" b="true" sz="135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Sushil Vatane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692385" y="4832878"/>
            <a:ext cx="2220124" cy="46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12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Team Lead &amp; Database Administrator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57834" y="4511682"/>
            <a:ext cx="2676628" cy="23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2"/>
              </a:lnSpc>
            </a:pPr>
            <a:r>
              <a:rPr lang="en-US" b="true" sz="135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Samiksha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53538" y="4511682"/>
            <a:ext cx="2676628" cy="23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2"/>
              </a:lnSpc>
            </a:pPr>
            <a:r>
              <a:rPr lang="en-US" b="true" sz="135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Siri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81790" y="4832878"/>
            <a:ext cx="2220124" cy="46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12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File Pipeline and </a:t>
            </a:r>
          </a:p>
          <a:p>
            <a:pPr algn="ctr">
              <a:lnSpc>
                <a:spcPts val="1812"/>
              </a:lnSpc>
            </a:pPr>
            <a:r>
              <a:rPr lang="en-US" sz="12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Storage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47239" y="4511682"/>
            <a:ext cx="2676628" cy="23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2"/>
              </a:lnSpc>
            </a:pPr>
            <a:r>
              <a:rPr lang="en-US" b="true" sz="135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arpita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75491" y="4832878"/>
            <a:ext cx="2220124" cy="46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12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Cryptography and Security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464133" y="8015539"/>
            <a:ext cx="2676628" cy="23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2"/>
              </a:lnSpc>
            </a:pPr>
            <a:r>
              <a:rPr lang="en-US" b="true" sz="135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Srilaja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692385" y="8336734"/>
            <a:ext cx="2220124" cy="46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12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Notification &amp; Security Alert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357834" y="8015539"/>
            <a:ext cx="2676628" cy="23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2"/>
              </a:lnSpc>
            </a:pPr>
            <a:r>
              <a:rPr lang="en-US" b="true" sz="135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Yogitha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586086" y="8336734"/>
            <a:ext cx="2220124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12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Frontend UI/UX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253538" y="8015539"/>
            <a:ext cx="2676628" cy="23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2"/>
              </a:lnSpc>
            </a:pPr>
            <a:r>
              <a:rPr lang="en-US" b="true" sz="135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Varshini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81790" y="8336734"/>
            <a:ext cx="2220124" cy="46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12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Database Schema Architect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147239" y="8015539"/>
            <a:ext cx="2676628" cy="23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2"/>
              </a:lnSpc>
            </a:pPr>
            <a:r>
              <a:rPr lang="en-US" b="true" sz="135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yogitha 2nd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75491" y="8336734"/>
            <a:ext cx="2220124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12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UI /UX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587087" y="4832878"/>
            <a:ext cx="2220124" cy="46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12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Authentication and </a:t>
            </a:r>
          </a:p>
          <a:p>
            <a:pPr algn="ctr">
              <a:lnSpc>
                <a:spcPts val="1812"/>
              </a:lnSpc>
            </a:pPr>
            <a:r>
              <a:rPr lang="en-US" sz="12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API </a:t>
            </a:r>
          </a:p>
        </p:txBody>
      </p: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773054" y="-5872262"/>
            <a:ext cx="12090385" cy="22084862"/>
          </a:xfrm>
          <a:custGeom>
            <a:avLst/>
            <a:gdLst/>
            <a:ahLst/>
            <a:cxnLst/>
            <a:rect r="r" b="b" t="t" l="l"/>
            <a:pathLst>
              <a:path h="22084862" w="12090385">
                <a:moveTo>
                  <a:pt x="0" y="0"/>
                </a:moveTo>
                <a:lnTo>
                  <a:pt x="12090385" y="0"/>
                </a:lnTo>
                <a:lnTo>
                  <a:pt x="12090385" y="22084863"/>
                </a:lnTo>
                <a:lnTo>
                  <a:pt x="0" y="22084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12" t="0" r="-131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66187"/>
            <a:ext cx="14094848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Roadmap and Conclusion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12/13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1845" y="5684612"/>
            <a:ext cx="15248451" cy="259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🎯 Core Conclusion</a:t>
            </a:r>
          </a:p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TrustShare successfully solves the critical security vulnerabilities of traditional cloud file sharing by proving that high security does not require sacrificing user experience. By combining Python-based zero-trust encryption, FastAPI backend performance, PostgreSQL database reliability, and a modern React dashboard, the project delivers a complete, production-ready security vault.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1845" y="1871912"/>
            <a:ext cx="8796525" cy="329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🤖 AI-Powered Anomaly Detection:</a:t>
            </a:r>
          </a:p>
          <a:p>
            <a:pPr algn="l">
              <a:lnSpc>
                <a:spcPts val="3289"/>
              </a:lnSpc>
              <a:spcBef>
                <a:spcPct val="0"/>
              </a:spcBef>
            </a:pPr>
          </a:p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🔐 Client-Side Browser Encryption (Zero-Knowledge):</a:t>
            </a:r>
          </a:p>
          <a:p>
            <a:pPr algn="l">
              <a:lnSpc>
                <a:spcPts val="3289"/>
              </a:lnSpc>
              <a:spcBef>
                <a:spcPct val="0"/>
              </a:spcBef>
            </a:pPr>
          </a:p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☁️ Multi-Cloud Storage Adapters:</a:t>
            </a:r>
          </a:p>
          <a:p>
            <a:pPr algn="l">
              <a:lnSpc>
                <a:spcPts val="3289"/>
              </a:lnSpc>
              <a:spcBef>
                <a:spcPct val="0"/>
              </a:spcBef>
            </a:pPr>
          </a:p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🏢 Enterprise Role-Based Access Control (RBAC):</a:t>
            </a:r>
          </a:p>
          <a:p>
            <a:pPr algn="l">
              <a:lnSpc>
                <a:spcPts val="328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773054" y="-5872262"/>
            <a:ext cx="12090385" cy="22084862"/>
          </a:xfrm>
          <a:custGeom>
            <a:avLst/>
            <a:gdLst/>
            <a:ahLst/>
            <a:cxnLst/>
            <a:rect r="r" b="b" t="t" l="l"/>
            <a:pathLst>
              <a:path h="22084862" w="12090385">
                <a:moveTo>
                  <a:pt x="0" y="0"/>
                </a:moveTo>
                <a:lnTo>
                  <a:pt x="12090385" y="0"/>
                </a:lnTo>
                <a:lnTo>
                  <a:pt x="12090385" y="22084863"/>
                </a:lnTo>
                <a:lnTo>
                  <a:pt x="0" y="22084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95" t="-4906" r="-389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829356"/>
            <a:ext cx="2611028" cy="1428944"/>
          </a:xfrm>
          <a:custGeom>
            <a:avLst/>
            <a:gdLst/>
            <a:ahLst/>
            <a:cxnLst/>
            <a:rect r="r" b="b" t="t" l="l"/>
            <a:pathLst>
              <a:path h="1428944" w="2611028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53438" y="3558911"/>
            <a:ext cx="6975146" cy="87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4"/>
              </a:lnSpc>
              <a:spcBef>
                <a:spcPct val="0"/>
              </a:spcBef>
            </a:pPr>
            <a:r>
              <a:rPr lang="en-US" sz="7608" spc="-60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13/13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DAHUPgp0GSM</dc:identifier>
  <dcterms:modified xsi:type="dcterms:W3CDTF">2011-08-01T06:04:30Z</dcterms:modified>
  <cp:revision>1</cp:revision>
  <dc:title>1st Milestone</dc:title>
</cp:coreProperties>
</file>